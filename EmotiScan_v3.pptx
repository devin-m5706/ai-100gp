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2153F"/>
          </a:solidFill>
          <a:ln w="12700">
            <a:solidFill>
              <a:srgbClr val="2215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73152" cy="51435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640080"/>
            <a:ext cx="1920240" cy="19202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64008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🧠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274320" y="2743200"/>
            <a:ext cx="2926080" cy="34747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7432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100  ·  MIDTERM PROJECT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 Myers  ·  Vina Dang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3657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8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</a:t>
            </a:r>
            <a:endParaRPr lang="en-US" sz="72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3749040" y="32004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Facial Emotion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Using Deep Learning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503920" y="4480560"/>
            <a:ext cx="411480" cy="411480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 DEFINITION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facial emotion recognition matter?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2606040" cy="1691640"/>
          </a:xfrm>
          <a:prstGeom prst="rect">
            <a:avLst/>
          </a:prstGeom>
          <a:solidFill>
            <a:srgbClr val="231542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260604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distress in patients during telehealth sessions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06040" cy="1691640"/>
          </a:xfrm>
          <a:prstGeom prst="rect">
            <a:avLst/>
          </a:prstGeom>
          <a:solidFill>
            <a:srgbClr val="231542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097280"/>
            <a:ext cx="260604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1887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🚗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46120" y="16642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drowsy or frustrated drivers before accidents occur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097280"/>
            <a:ext cx="2606040" cy="1691640"/>
          </a:xfrm>
          <a:prstGeom prst="rect">
            <a:avLst/>
          </a:prstGeom>
          <a:solidFill>
            <a:srgbClr val="231542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097280"/>
            <a:ext cx="260604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1887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080760" y="16642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student engagement &amp; confusion in real time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9443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Hard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336499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36499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expressions — same face can be read differently by humans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76732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🏷️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76732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noise — FER2013 human annotators disagreed ~35% of the time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16966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4169664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&amp; occlusion — real-world conditions degrade model performance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457200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⚖️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457200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— 'Happy' and 'Neutral' dominate; 'Disgust' is rare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DATASET CURATION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FER2013 — Building a clean training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606040" cy="1097280"/>
          </a:xfrm>
          <a:prstGeom prst="rect">
            <a:avLst/>
          </a:prstGeom>
          <a:solidFill>
            <a:srgbClr val="231542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78992"/>
            <a:ext cx="2606040" cy="64008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35,887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78992"/>
            <a:ext cx="2606040" cy="1097280"/>
          </a:xfrm>
          <a:prstGeom prst="rect">
            <a:avLst/>
          </a:prstGeom>
          <a:solidFill>
            <a:srgbClr val="231542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78992"/>
            <a:ext cx="2606040" cy="64008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1430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48×48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46120" y="17373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(px)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078992"/>
            <a:ext cx="2606040" cy="1097280"/>
          </a:xfrm>
          <a:prstGeom prst="rect">
            <a:avLst/>
          </a:prstGeom>
          <a:solidFill>
            <a:srgbClr val="231542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1078992"/>
            <a:ext cx="2606040" cy="64008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1430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80760" y="17373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2331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27432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63040" y="2779776"/>
            <a:ext cx="3474720" cy="18288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27432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8,989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3044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463040" y="3081528"/>
            <a:ext cx="2395852" cy="18288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2044" y="30449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6,198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33467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463040" y="3383280"/>
            <a:ext cx="2349079" cy="18288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5271" y="33467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6,077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36484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463040" y="3685032"/>
            <a:ext cx="1979535" cy="18288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15727" y="36484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5,121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39502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463040" y="3986784"/>
            <a:ext cx="1914594" cy="18288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50786" y="39502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4,953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" y="42519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463040" y="4288536"/>
            <a:ext cx="1546983" cy="18288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83175" y="42519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" y="45537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463040" y="4590288"/>
            <a:ext cx="211444" cy="1828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47636" y="45537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547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74920" y="2304288"/>
            <a:ext cx="3703320" cy="2633472"/>
          </a:xfrm>
          <a:prstGeom prst="rect">
            <a:avLst/>
          </a:prstGeom>
          <a:solidFill>
            <a:srgbClr val="120C29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74920" y="2304288"/>
            <a:ext cx="3703320" cy="38404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230428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12080" y="278892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📥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623560" y="27889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pixel values from fer2013.csv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12080" y="324612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🔢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623560" y="32461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Reshape: 2304 pixels → 48×48×1 arrays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12080" y="370332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623560" y="37033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Normalize: pixel values / 255.0 → [0,1]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12080" y="416052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✂️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623560" y="41605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80% train / 10% val / 10% test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12080" y="461772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623560" y="46177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Augment: flip, rotate ±10°, zoom 10%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DEEP LEARNING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— Built from Scratch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115568" cy="640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48×48×1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435608" y="1417320"/>
            <a:ext cx="91440" cy="73152"/>
          </a:xfrm>
          <a:prstGeom prst="rect">
            <a:avLst/>
          </a:prstGeom>
          <a:solidFill>
            <a:srgbClr val="6E5FA0"/>
          </a:solidFill>
          <a:ln w="12700">
            <a:solidFill>
              <a:srgbClr val="6E5F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27048" y="1143000"/>
            <a:ext cx="1115568" cy="640080"/>
          </a:xfrm>
          <a:prstGeom prst="rect">
            <a:avLst/>
          </a:prstGeom>
          <a:solidFill>
            <a:srgbClr val="5B4FD4"/>
          </a:solidFill>
          <a:ln w="12700">
            <a:solidFill>
              <a:srgbClr val="5B4F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27048" y="1170432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×2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27048" y="146304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filters, ReLU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42616" y="1417320"/>
            <a:ext cx="91440" cy="73152"/>
          </a:xfrm>
          <a:prstGeom prst="rect">
            <a:avLst/>
          </a:prstGeom>
          <a:solidFill>
            <a:srgbClr val="6E5FA0"/>
          </a:solidFill>
          <a:ln w="12700">
            <a:solidFill>
              <a:srgbClr val="6E5F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34056" y="1143000"/>
            <a:ext cx="1115568" cy="640080"/>
          </a:xfrm>
          <a:prstGeom prst="rect">
            <a:avLst/>
          </a:prstGeom>
          <a:solidFill>
            <a:srgbClr val="4A7CB8"/>
          </a:solidFill>
          <a:ln w="12700">
            <a:solidFill>
              <a:srgbClr val="4A7C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34056" y="1170432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+ Dropout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34056" y="146304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2×2, 0.25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49624" y="1417320"/>
            <a:ext cx="91440" cy="73152"/>
          </a:xfrm>
          <a:prstGeom prst="rect">
            <a:avLst/>
          </a:prstGeom>
          <a:solidFill>
            <a:srgbClr val="6E5FA0"/>
          </a:solidFill>
          <a:ln w="12700">
            <a:solidFill>
              <a:srgbClr val="6E5F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41064" y="1143000"/>
            <a:ext cx="1115568" cy="640080"/>
          </a:xfrm>
          <a:prstGeom prst="rect">
            <a:avLst/>
          </a:prstGeom>
          <a:solidFill>
            <a:srgbClr val="3A8FA0"/>
          </a:solidFill>
          <a:ln w="12700">
            <a:solidFill>
              <a:srgbClr val="3A8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41064" y="1170432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×2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41064" y="146304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filters, ReLU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56632" y="1417320"/>
            <a:ext cx="91440" cy="73152"/>
          </a:xfrm>
          <a:prstGeom prst="rect">
            <a:avLst/>
          </a:prstGeom>
          <a:solidFill>
            <a:srgbClr val="6E5FA0"/>
          </a:solidFill>
          <a:ln w="12700">
            <a:solidFill>
              <a:srgbClr val="6E5F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48072" y="1143000"/>
            <a:ext cx="1115568" cy="640080"/>
          </a:xfrm>
          <a:prstGeom prst="rect">
            <a:avLst/>
          </a:prstGeom>
          <a:solidFill>
            <a:srgbClr val="2FA080"/>
          </a:solidFill>
          <a:ln w="12700">
            <a:solidFill>
              <a:srgbClr val="2FA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48072" y="1170432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+ Dropout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48072" y="146304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2×2, 0.25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63640" y="1417320"/>
            <a:ext cx="91440" cy="73152"/>
          </a:xfrm>
          <a:prstGeom prst="rect">
            <a:avLst/>
          </a:prstGeom>
          <a:solidFill>
            <a:srgbClr val="6E5FA0"/>
          </a:solidFill>
          <a:ln w="12700">
            <a:solidFill>
              <a:srgbClr val="6E5F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1143000"/>
            <a:ext cx="1115568" cy="640080"/>
          </a:xfrm>
          <a:prstGeom prst="rect">
            <a:avLst/>
          </a:prstGeom>
          <a:solidFill>
            <a:srgbClr val="3DB060"/>
          </a:solidFill>
          <a:ln w="12700">
            <a:solidFill>
              <a:srgbClr val="3DB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170432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→ Dense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146304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units, ReLU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70648" y="1417320"/>
            <a:ext cx="91440" cy="73152"/>
          </a:xfrm>
          <a:prstGeom prst="rect">
            <a:avLst/>
          </a:prstGeom>
          <a:solidFill>
            <a:srgbClr val="6E5FA0"/>
          </a:solidFill>
          <a:ln w="12700">
            <a:solidFill>
              <a:srgbClr val="6E5F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62088" y="1143000"/>
            <a:ext cx="1115568" cy="6400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62088" y="1170432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+ Output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62088" y="146304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→ 7, Softmax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11480" y="19933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11480" y="2423160"/>
            <a:ext cx="4069080" cy="530352"/>
          </a:xfrm>
          <a:prstGeom prst="rect">
            <a:avLst/>
          </a:prstGeom>
          <a:solidFill>
            <a:srgbClr val="231542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2423160"/>
            <a:ext cx="73152" cy="5303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242316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920240" y="242316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 (lr=0.001)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09160" y="2423160"/>
            <a:ext cx="4069080" cy="530352"/>
          </a:xfrm>
          <a:prstGeom prst="rect">
            <a:avLst/>
          </a:prstGeom>
          <a:solidFill>
            <a:srgbClr val="231542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2423160"/>
            <a:ext cx="73152" cy="5303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242316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242316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Cross-Entropy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11480" y="3081528"/>
            <a:ext cx="4069080" cy="530352"/>
          </a:xfrm>
          <a:prstGeom prst="rect">
            <a:avLst/>
          </a:prstGeom>
          <a:solidFill>
            <a:srgbClr val="231542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3081528"/>
            <a:ext cx="73152" cy="5303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" y="308152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920240" y="308152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 (early stopping)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09160" y="3081528"/>
            <a:ext cx="4069080" cy="530352"/>
          </a:xfrm>
          <a:prstGeom prst="rect">
            <a:avLst/>
          </a:prstGeom>
          <a:solidFill>
            <a:srgbClr val="231542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09160" y="3081528"/>
            <a:ext cx="73152" cy="5303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73752" y="308152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17920" y="308152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11480" y="3840480"/>
            <a:ext cx="8321040" cy="685800"/>
          </a:xfrm>
          <a:prstGeom prst="rect">
            <a:avLst/>
          </a:prstGeom>
          <a:solidFill>
            <a:srgbClr val="120C29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1480" y="3840480"/>
            <a:ext cx="73152" cy="6858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" y="38404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~2.5M parameters  ·  Trained end-to-end on FER2013  ·  Test Accuracy: ~65%  ·  Matches human-level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DEEP LEARNING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— Fine-Tuned MobileNetV2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3977640" cy="2834640"/>
          </a:xfrm>
          <a:prstGeom prst="rect">
            <a:avLst/>
          </a:prstGeom>
          <a:solidFill>
            <a:srgbClr val="231542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78992"/>
            <a:ext cx="3977640" cy="64008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704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Transfer Learning?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310896" cy="310896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190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664208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pre-trained on 1.4M ImageNet images — rich feature knowledge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249424"/>
            <a:ext cx="310896" cy="310896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494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19456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convergence — fewer epochs needed to reach good accuracy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79776"/>
            <a:ext cx="310896" cy="310896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797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📦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724912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 footprint — optimized for mobile/edge deployment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10128"/>
            <a:ext cx="310896" cy="310896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10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🔧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255264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last layers only — preserves learned low-level features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078992"/>
            <a:ext cx="4069080" cy="2834640"/>
          </a:xfrm>
          <a:prstGeom prst="rect">
            <a:avLst/>
          </a:prstGeom>
          <a:solidFill>
            <a:srgbClr val="120C29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078992"/>
            <a:ext cx="4069080" cy="38404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07899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MODIFICATIONS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1572768"/>
            <a:ext cx="3794760" cy="365760"/>
          </a:xfrm>
          <a:prstGeom prst="rect">
            <a:avLst/>
          </a:prstGeom>
          <a:solidFill>
            <a:srgbClr val="6E5FA0"/>
          </a:solidFill>
          <a:ln w="12700">
            <a:solidFill>
              <a:srgbClr val="6E5F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5727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Base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95160" y="15727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weights (ImageNet)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2029968"/>
            <a:ext cx="3794760" cy="3657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0299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GlobalAvgPool2D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95160" y="20299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spatial dimensions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2487168"/>
            <a:ext cx="3794760" cy="365760"/>
          </a:xfrm>
          <a:prstGeom prst="rect">
            <a:avLst/>
          </a:prstGeom>
          <a:solidFill>
            <a:srgbClr val="4A7CB8"/>
          </a:solidFill>
          <a:ln w="12700">
            <a:solidFill>
              <a:srgbClr val="4A7C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4871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128, ReLU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95160" y="24871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trainable layer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2944368"/>
            <a:ext cx="3794760" cy="365760"/>
          </a:xfrm>
          <a:prstGeom prst="rect">
            <a:avLst/>
          </a:prstGeom>
          <a:solidFill>
            <a:srgbClr val="3A8FA0"/>
          </a:solidFill>
          <a:ln w="12700">
            <a:solidFill>
              <a:srgbClr val="3A8F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9443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95160" y="29443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3401568"/>
            <a:ext cx="3794760" cy="36576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4015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7, Softmax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95160" y="34015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output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4069080"/>
            <a:ext cx="8321040" cy="685800"/>
          </a:xfrm>
          <a:prstGeom prst="rect">
            <a:avLst/>
          </a:prstGeom>
          <a:solidFill>
            <a:srgbClr val="120C29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4069080"/>
            <a:ext cx="73152" cy="68580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0690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~3.2M parameters  ·  Input: 48×48×3 (grayscale→RGB stacked)  ·  Test Accuracy: ~67%  ·  Best performing model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— How Did We Do?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Per-Emotion Accuracy (approx.)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53619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17320" y="1554480"/>
            <a:ext cx="3264408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1755648"/>
            <a:ext cx="3341218" cy="164592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15544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13402" y="175564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199339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17320" y="2011680"/>
            <a:ext cx="2995574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17320" y="2212848"/>
            <a:ext cx="3072384" cy="164592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7758" y="20116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44568" y="221284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245059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17320" y="2468880"/>
            <a:ext cx="2496312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17320" y="2670048"/>
            <a:ext cx="2573122" cy="164592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68496" y="24688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045306" y="267004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" y="290779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417320" y="2926080"/>
            <a:ext cx="2227478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17320" y="3127248"/>
            <a:ext cx="2342693" cy="164592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99662" y="29260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14877" y="312724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1480" y="336499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417320" y="3383280"/>
            <a:ext cx="1997050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17320" y="3584448"/>
            <a:ext cx="2112264" cy="164592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9234" y="33832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584448" y="358444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11480" y="382219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417320" y="3840480"/>
            <a:ext cx="1689811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17320" y="4041648"/>
            <a:ext cx="1843430" cy="164592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61995" y="38404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15614" y="404164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11480" y="427939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417320" y="4297680"/>
            <a:ext cx="1075334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17320" y="4498848"/>
            <a:ext cx="1267358" cy="164592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7518" y="42976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39542" y="449884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417320" y="4681728"/>
            <a:ext cx="502920" cy="12801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65960" y="462686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00400" y="4681728"/>
            <a:ext cx="502920" cy="128016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49040" y="462686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212080" y="1078992"/>
            <a:ext cx="3520440" cy="2816352"/>
          </a:xfrm>
          <a:prstGeom prst="rect">
            <a:avLst/>
          </a:prstGeom>
          <a:solidFill>
            <a:srgbClr val="231542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117043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</a:t>
            </a:r>
            <a:endParaRPr lang="en-US" sz="3400" dirty="0"/>
          </a:p>
        </p:txBody>
      </p:sp>
      <p:sp>
        <p:nvSpPr>
          <p:cNvPr id="47" name="Text 45"/>
          <p:cNvSpPr/>
          <p:nvPr/>
        </p:nvSpPr>
        <p:spPr>
          <a:xfrm>
            <a:off x="7086600" y="13533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03520" y="2048256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~67%</a:t>
            </a:r>
            <a:endParaRPr lang="en-US" sz="3400" dirty="0"/>
          </a:p>
        </p:txBody>
      </p:sp>
      <p:sp>
        <p:nvSpPr>
          <p:cNvPr id="49" name="Text 47"/>
          <p:cNvSpPr/>
          <p:nvPr/>
        </p:nvSpPr>
        <p:spPr>
          <a:xfrm>
            <a:off x="7086600" y="223113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TL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03520" y="292608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</a:t>
            </a:r>
            <a:endParaRPr lang="en-US" sz="3400" dirty="0"/>
          </a:p>
        </p:txBody>
      </p:sp>
      <p:sp>
        <p:nvSpPr>
          <p:cNvPr id="51" name="Text 49"/>
          <p:cNvSpPr/>
          <p:nvPr/>
        </p:nvSpPr>
        <p:spPr>
          <a:xfrm>
            <a:off x="7086600" y="3108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Baseline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212080" y="4005072"/>
            <a:ext cx="3520440" cy="914400"/>
          </a:xfrm>
          <a:prstGeom prst="rect">
            <a:avLst/>
          </a:prstGeom>
          <a:solidFill>
            <a:srgbClr val="120C29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212080" y="4005072"/>
            <a:ext cx="73152" cy="9144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49240" y="400507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0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&amp; Surprise are easiest to classify. Disgust is hardest due to severe class imbalance (only 547 samples vs 8,989 Happy).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LESSONS &amp; EXPERIENCE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Building EmotiScan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206240" cy="1810512"/>
          </a:xfrm>
          <a:prstGeom prst="rect">
            <a:avLst/>
          </a:prstGeom>
          <a:solidFill>
            <a:srgbClr val="2D6A3F"/>
          </a:solidFill>
          <a:ln w="12700">
            <a:solidFill>
              <a:srgbClr val="3DB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4206240" cy="384048"/>
          </a:xfrm>
          <a:prstGeom prst="rect">
            <a:avLst/>
          </a:prstGeom>
          <a:solidFill>
            <a:srgbClr val="3DB060"/>
          </a:solidFill>
          <a:ln w="12700">
            <a:solidFill>
              <a:srgbClr val="3DB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7899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Worked Well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91056"/>
            <a:ext cx="82296" cy="82296"/>
          </a:xfrm>
          <a:prstGeom prst="ellipse">
            <a:avLst/>
          </a:prstGeom>
          <a:solidFill>
            <a:srgbClr val="3DB060"/>
          </a:solidFill>
          <a:ln w="12700">
            <a:solidFill>
              <a:srgbClr val="3DB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5361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significantly reduced overfitting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11096"/>
            <a:ext cx="82296" cy="82296"/>
          </a:xfrm>
          <a:prstGeom prst="ellipse">
            <a:avLst/>
          </a:prstGeom>
          <a:solidFill>
            <a:srgbClr val="3DB060"/>
          </a:solidFill>
          <a:ln w="12700">
            <a:solidFill>
              <a:srgbClr val="3DB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8562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converged in ~20 epochs vs ~45 for custom CNN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31136"/>
            <a:ext cx="82296" cy="82296"/>
          </a:xfrm>
          <a:prstGeom prst="ellipse">
            <a:avLst/>
          </a:prstGeom>
          <a:solidFill>
            <a:srgbClr val="3DB060"/>
          </a:solidFill>
          <a:ln w="12700">
            <a:solidFill>
              <a:srgbClr val="3DB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1762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 stabilized training loss curves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51176"/>
            <a:ext cx="82296" cy="82296"/>
          </a:xfrm>
          <a:prstGeom prst="ellipse">
            <a:avLst/>
          </a:prstGeom>
          <a:solidFill>
            <a:srgbClr val="3DB060"/>
          </a:solidFill>
          <a:ln w="12700">
            <a:solidFill>
              <a:srgbClr val="3DB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4963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prevented wasted compute time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078992"/>
            <a:ext cx="4206240" cy="1810512"/>
          </a:xfrm>
          <a:prstGeom prst="rect">
            <a:avLst/>
          </a:prstGeom>
          <a:solidFill>
            <a:srgbClr val="6B2D2D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078992"/>
            <a:ext cx="4206240" cy="3840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107899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What Didn't Work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1591056"/>
            <a:ext cx="82296" cy="8229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15361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too high (&gt;0.5) degraded validation accuracy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1911096"/>
            <a:ext cx="82296" cy="8229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18562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from scratch on Disgust class still poor — too few samples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2231136"/>
            <a:ext cx="82296" cy="8229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21762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channels for MobileNetV2 added overhead without major gains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2551176"/>
            <a:ext cx="82296" cy="8229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24963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&gt; 0.001 caused unstable training spikes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017520"/>
            <a:ext cx="4206240" cy="1810512"/>
          </a:xfrm>
          <a:prstGeom prst="rect">
            <a:avLst/>
          </a:prstGeom>
          <a:solidFill>
            <a:srgbClr val="3D3B15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017520"/>
            <a:ext cx="4206240" cy="384048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30175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😮  Surprises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529584"/>
            <a:ext cx="82296" cy="82296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3474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accuracy on FER2013 is only ~65% — label quality is the real ceiling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849624"/>
            <a:ext cx="82296" cy="82296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37947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CNN nearly matched transfer learning — architecture matters less than data quality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169664"/>
            <a:ext cx="82296" cy="82296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41148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and Sad are often confused with each other by both models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489704"/>
            <a:ext cx="82296" cy="82296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44348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inference ran at 24+ FPS even on CPU — faster than expected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017520"/>
            <a:ext cx="4206240" cy="1810512"/>
          </a:xfrm>
          <a:prstGeom prst="rect">
            <a:avLst/>
          </a:prstGeom>
          <a:solidFill>
            <a:srgbClr val="1E2A4A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3017520"/>
            <a:ext cx="4206240" cy="38404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30175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What We'd Do Next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92040" y="3529584"/>
            <a:ext cx="82296" cy="82296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47488" y="3474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AffectNet (450K images) for better class balance and label quality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92040" y="3849624"/>
            <a:ext cx="82296" cy="82296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47488" y="37947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attention mechanisms to focus on facial landmark regions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92040" y="4169664"/>
            <a:ext cx="82296" cy="82296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47488" y="41148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temporal modeling (LSTM) for video emotion sequences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92040" y="4489704"/>
            <a:ext cx="82296" cy="82296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47488" y="44348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real-time web app using TensorFlow.js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2153F"/>
          </a:solidFill>
          <a:ln w="12700">
            <a:solidFill>
              <a:srgbClr val="2215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73152" cy="51435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TODAY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347472" cy="3474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868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490472"/>
            <a:ext cx="347472" cy="3474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904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4904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Curation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112264"/>
            <a:ext cx="347472" cy="3474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122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1122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734056"/>
            <a:ext cx="347472" cy="3474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340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📊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73405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355848"/>
            <a:ext cx="347472" cy="3474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355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3558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&amp; Experience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2880" y="44348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 Myers  ·  Vina Dang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49040" y="73152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3749040" y="160020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3749040" y="2377440"/>
            <a:ext cx="5029200" cy="822960"/>
          </a:xfrm>
          <a:prstGeom prst="rect">
            <a:avLst/>
          </a:prstGeom>
          <a:solidFill>
            <a:srgbClr val="231542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49040" y="2377440"/>
            <a:ext cx="73152" cy="82296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23774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MobileNetV2  ·  ~67% Test Accuracy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human-level performance on FER2013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749040" y="3401568"/>
            <a:ext cx="5029200" cy="777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34015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 LIVE WEBCAM DEMO  ·  python demo_webcam.py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749040" y="4315968"/>
            <a:ext cx="5029200" cy="502920"/>
          </a:xfrm>
          <a:prstGeom prst="rect">
            <a:avLst/>
          </a:prstGeom>
          <a:solidFill>
            <a:srgbClr val="120C29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43159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(80%)  ·  Presentation (20%)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EmotiScan</dc:title>
  <dc:subject>PptxGenJS Presentation</dc:subject>
  <dc:creator>PptxGenJS</dc:creator>
  <cp:lastModifiedBy>PptxGenJS</cp:lastModifiedBy>
  <cp:revision>1</cp:revision>
  <dcterms:created xsi:type="dcterms:W3CDTF">2026-03-01T23:28:01Z</dcterms:created>
  <dcterms:modified xsi:type="dcterms:W3CDTF">2026-03-01T23:28:01Z</dcterms:modified>
</cp:coreProperties>
</file>